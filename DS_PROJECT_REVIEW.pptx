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62" r:id="rId3"/>
    <p:sldId id="707" r:id="rId4"/>
    <p:sldId id="257" r:id="rId5"/>
    <p:sldId id="903" r:id="rId6"/>
    <p:sldId id="902" r:id="rId7"/>
    <p:sldId id="258" r:id="rId8"/>
    <p:sldId id="259" r:id="rId9"/>
    <p:sldId id="260" r:id="rId10"/>
    <p:sldId id="90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24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24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24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24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24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24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24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4236571943"/>
              </p:ext>
            </p:extLst>
          </p:nvPr>
        </p:nvGraphicFramePr>
        <p:xfrm>
          <a:off x="8193271" y="4898509"/>
          <a:ext cx="3702050" cy="82296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r>
                        <a:rPr sz="1200">
                          <a:latin typeface="Aptos"/>
                        </a:rPr>
                        <a:t>TEAM MEMBERS</a:t>
                      </a:r>
                    </a:p>
                    <a:p>
                      <a:endParaRPr sz="1200">
                        <a:latin typeface="Aptos"/>
                      </a:endParaRPr>
                    </a:p>
                    <a:p>
                      <a:r>
                        <a:rPr sz="1200">
                          <a:latin typeface="Aptos"/>
                        </a:rPr>
                        <a:t>B. Harneesh  —  2420030563</a:t>
                      </a:r>
                    </a:p>
                    <a:p>
                      <a:r>
                        <a:rPr sz="1200">
                          <a:latin typeface="Aptos"/>
                        </a:rPr>
                        <a:t>Dhanush      —  2420030639</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947167561"/>
              </p:ext>
            </p:extLst>
          </p:nvPr>
        </p:nvGraphicFramePr>
        <p:xfrm>
          <a:off x="-795813" y="4774125"/>
          <a:ext cx="5902325" cy="1332118"/>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sz="1000">
                          <a:latin typeface="Aptos"/>
                        </a:rPr>
                        <a:t>Under the Guidance of</a:t>
                      </a:r>
                    </a:p>
                    <a:p>
                      <a:r>
                        <a:rPr sz="1000">
                          <a:latin typeface="Aptos"/>
                        </a:rPr>
                        <a:t>Dr. N. Sunanda</a:t>
                      </a:r>
                    </a:p>
                    <a:p>
                      <a:r>
                        <a:rPr sz="1000">
                          <a:latin typeface="Aptos"/>
                        </a:rPr>
                        <a:t>Professor,</a:t>
                      </a:r>
                    </a:p>
                    <a:p>
                      <a:r>
                        <a:rPr sz="1000">
                          <a:latin typeface="Aptos"/>
                        </a:rPr>
                        <a:t>Department of Computer Science and Engineering,</a:t>
                      </a:r>
                    </a:p>
                    <a:p>
                      <a:r>
                        <a:rPr sz="1000">
                          <a:latin typeface="Aptos"/>
                        </a:rPr>
                        <a:t>KLH CSE Bowrampet Campus</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pPr algn="ctr"/>
            <a:r>
              <a:rPr sz="1100"/>
              <a:t>2026-27, ODD Semester</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pPr algn="ctr"/>
            <a:r>
              <a:rPr sz="1000" b="1"/>
              <a:t>DATA SCIENCE (24AD3107)  |  SEC 08  |  TEAM 24</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pPr algn="ctr"/>
            <a:r>
              <a:rPr sz="1100"/>
              <a:t>1</a:t>
            </a:r>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15636" y="1451772"/>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7" name="TextBox 16">
            <a:extLst>
              <a:ext uri="{FF2B5EF4-FFF2-40B4-BE49-F238E27FC236}">
                <a16:creationId xmlns:a16="http://schemas.microsoft.com/office/drawing/2014/main" id="{D25BC1A0-FDE4-1557-375E-6E0BD69BC77B}"/>
              </a:ext>
            </a:extLst>
          </p:cNvPr>
          <p:cNvSpPr txBox="1"/>
          <p:nvPr/>
        </p:nvSpPr>
        <p:spPr>
          <a:xfrm>
            <a:off x="538061" y="1725546"/>
            <a:ext cx="10715625" cy="584775"/>
          </a:xfrm>
          <a:prstGeom prst="rect">
            <a:avLst/>
          </a:prstGeom>
          <a:noFill/>
        </p:spPr>
        <p:txBody>
          <a:bodyPr wrap="square">
            <a:spAutoFit/>
          </a:bodyPr>
          <a:lstStyle/>
          <a:p>
            <a:pPr lvl="0" algn="ctr">
              <a:defRPr/>
            </a:pPr>
            <a:r>
              <a:rPr sz="3200" b="1" dirty="0"/>
              <a:t>Interactive EDA Dashboard</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sz="1100"/>
              <a:t>2</a:t>
            </a: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
        <p:nvSpPr>
          <p:cNvPr id="42" name="TextBox 41"/>
          <p:cNvSpPr txBox="1"/>
          <p:nvPr/>
        </p:nvSpPr>
        <p:spPr>
          <a:xfrm>
            <a:off x="7771538" y="1171128"/>
            <a:ext cx="3657600" cy="502920"/>
          </a:xfrm>
          <a:prstGeom prst="rect">
            <a:avLst/>
          </a:prstGeom>
          <a:noFill/>
        </p:spPr>
        <p:txBody>
          <a:bodyPr wrap="square" lIns="45720" rIns="45720" anchor="t">
            <a:spAutoFit/>
          </a:bodyPr>
          <a:lstStyle/>
          <a:p>
            <a:pPr algn="l"/>
            <a:r>
              <a:rPr sz="1900" b="1">
                <a:solidFill>
                  <a:srgbClr val="1E1E1E"/>
                </a:solidFill>
                <a:latin typeface="Aptos"/>
              </a:rPr>
              <a:t>Project Work Outline</a:t>
            </a:r>
          </a:p>
        </p:txBody>
      </p:sp>
      <p:sp>
        <p:nvSpPr>
          <p:cNvPr id="43" name="TextBox 42"/>
          <p:cNvSpPr txBox="1"/>
          <p:nvPr/>
        </p:nvSpPr>
        <p:spPr>
          <a:xfrm>
            <a:off x="7717277" y="1586072"/>
            <a:ext cx="3840480" cy="3794760"/>
          </a:xfrm>
          <a:prstGeom prst="rect">
            <a:avLst/>
          </a:prstGeom>
          <a:noFill/>
        </p:spPr>
        <p:txBody>
          <a:bodyPr wrap="square" lIns="73152" tIns="36576" rIns="73152" bIns="36576">
            <a:spAutoFit/>
          </a:bodyPr>
          <a:lstStyle/>
          <a:p>
            <a:pPr>
              <a:spcAft>
                <a:spcPts val="400"/>
              </a:spcAft>
              <a:defRPr sz="1600">
                <a:solidFill>
                  <a:srgbClr val="232323"/>
                </a:solidFill>
                <a:latin typeface="Aptos"/>
              </a:defRPr>
            </a:pPr>
            <a:r>
              <a:t>• Introduction &amp; Problem Statement</a:t>
            </a:r>
          </a:p>
          <a:p>
            <a:pPr>
              <a:spcAft>
                <a:spcPts val="400"/>
              </a:spcAft>
              <a:defRPr sz="1600">
                <a:solidFill>
                  <a:srgbClr val="232323"/>
                </a:solidFill>
                <a:latin typeface="Aptos"/>
              </a:defRPr>
            </a:pPr>
            <a:r>
              <a:t>• Research Objectives</a:t>
            </a:r>
          </a:p>
          <a:p>
            <a:pPr>
              <a:spcAft>
                <a:spcPts val="400"/>
              </a:spcAft>
              <a:defRPr sz="1600">
                <a:solidFill>
                  <a:srgbClr val="232323"/>
                </a:solidFill>
                <a:latin typeface="Aptos"/>
              </a:defRPr>
            </a:pPr>
            <a:r>
              <a:t>• Literature Survey</a:t>
            </a:r>
          </a:p>
          <a:p>
            <a:pPr>
              <a:spcAft>
                <a:spcPts val="400"/>
              </a:spcAft>
              <a:defRPr sz="1600">
                <a:solidFill>
                  <a:srgbClr val="232323"/>
                </a:solidFill>
                <a:latin typeface="Aptos"/>
              </a:defRPr>
            </a:pPr>
            <a:r>
              <a:t>• Problem Gap Identification</a:t>
            </a:r>
          </a:p>
          <a:p>
            <a:pPr>
              <a:spcAft>
                <a:spcPts val="400"/>
              </a:spcAft>
              <a:defRPr sz="1600">
                <a:solidFill>
                  <a:srgbClr val="232323"/>
                </a:solidFill>
                <a:latin typeface="Aptos"/>
              </a:defRPr>
            </a:pPr>
            <a:r>
              <a:t>• Innovation, Creativity &amp; Novelty</a:t>
            </a:r>
          </a:p>
          <a:p>
            <a:pPr>
              <a:spcAft>
                <a:spcPts val="400"/>
              </a:spcAft>
              <a:defRPr sz="1600">
                <a:solidFill>
                  <a:srgbClr val="232323"/>
                </a:solidFill>
                <a:latin typeface="Aptos"/>
              </a:defRPr>
            </a:pPr>
            <a:r>
              <a:t>• Feasibility &amp; Project Plan</a:t>
            </a:r>
          </a:p>
          <a:p>
            <a:pPr>
              <a:spcAft>
                <a:spcPts val="400"/>
              </a:spcAft>
              <a:defRPr sz="1600">
                <a:solidFill>
                  <a:srgbClr val="232323"/>
                </a:solidFill>
                <a:latin typeface="Aptos"/>
              </a:defRPr>
            </a:pPr>
            <a:r>
              <a:t>• Conclusion &amp; Future Scope</a:t>
            </a:r>
          </a:p>
          <a:p>
            <a:pPr>
              <a:spcAft>
                <a:spcPts val="400"/>
              </a:spcAft>
              <a:defRPr sz="1600">
                <a:solidFill>
                  <a:srgbClr val="232323"/>
                </a:solidFill>
                <a:latin typeface="Aptos"/>
              </a:defRPr>
            </a:pPr>
            <a:r>
              <a:t>• References</a:t>
            </a:r>
          </a:p>
        </p:txBody>
      </p:sp>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7" name="TextBox 6"/>
          <p:cNvSpPr txBox="1"/>
          <p:nvPr/>
        </p:nvSpPr>
        <p:spPr>
          <a:xfrm>
            <a:off x="914400" y="1874519"/>
            <a:ext cx="9326880" cy="2971800"/>
          </a:xfrm>
          <a:prstGeom prst="rect">
            <a:avLst/>
          </a:prstGeom>
          <a:noFill/>
        </p:spPr>
        <p:txBody>
          <a:bodyPr wrap="square" lIns="45720" rIns="45720" anchor="t">
            <a:spAutoFit/>
          </a:bodyPr>
          <a:lstStyle/>
          <a:p>
            <a:pPr algn="l"/>
            <a:r>
              <a:rPr sz="1800" b="0">
                <a:solidFill>
                  <a:srgbClr val="1E1E1E"/>
                </a:solidFill>
                <a:latin typeface="Aptos"/>
              </a:rPr>
              <a:t>Traditional exploratory data analysis requires repeated coding for each dataset. Users often need separate scripts to inspect data types, missing values, descriptive statistics, distributions, outliers, and relationships between variables.
This creates repetitive work and can be difficult for beginners. A reusable dashboard is therefore proposed to accept a structured CSV file and automatically provide a consistent initial EDA workflow through statistics and visualizations.</a:t>
            </a:r>
          </a:p>
        </p:txBody>
      </p:sp>
      <p:sp>
        <p:nvSpPr>
          <p:cNvPr id="8" name="TextBox 7"/>
          <p:cNvSpPr txBox="1"/>
          <p:nvPr/>
        </p:nvSpPr>
        <p:spPr>
          <a:xfrm>
            <a:off x="914400" y="4892040"/>
            <a:ext cx="9326880" cy="594360"/>
          </a:xfrm>
          <a:prstGeom prst="rect">
            <a:avLst/>
          </a:prstGeom>
          <a:noFill/>
        </p:spPr>
        <p:txBody>
          <a:bodyPr wrap="square" lIns="45720" rIns="45720" anchor="t">
            <a:spAutoFit/>
          </a:bodyPr>
          <a:lstStyle/>
          <a:p>
            <a:pPr algn="ctr"/>
            <a:r>
              <a:rPr sz="1700" b="1">
                <a:solidFill>
                  <a:srgbClr val="1E1E1E"/>
                </a:solidFill>
                <a:latin typeface="Aptos"/>
              </a:rPr>
              <a:t>Proposed input: CSV dataset  →  Processing &amp; EDA  →  Interactive visual insights</a:t>
            </a:r>
          </a:p>
        </p:txBody>
      </p:sp>
      <p:sp>
        <p:nvSpPr>
          <p:cNvPr id="9" name="TextBox 8"/>
          <p:cNvSpPr txBox="1"/>
          <p:nvPr/>
        </p:nvSpPr>
        <p:spPr>
          <a:xfrm>
            <a:off x="914400" y="5440680"/>
            <a:ext cx="9326880" cy="411480"/>
          </a:xfrm>
          <a:prstGeom prst="rect">
            <a:avLst/>
          </a:prstGeom>
          <a:noFill/>
        </p:spPr>
        <p:txBody>
          <a:bodyPr wrap="square" lIns="45720" rIns="45720" anchor="t">
            <a:spAutoFit/>
          </a:bodyPr>
          <a:lstStyle/>
          <a:p>
            <a:pPr algn="ctr"/>
            <a:r>
              <a:rPr sz="1400" b="0">
                <a:solidFill>
                  <a:srgbClr val="1E1E1E"/>
                </a:solidFill>
                <a:latin typeface="Aptos"/>
              </a:rPr>
              <a:t>Focus: make preliminary dataset exploration faster, reusable, and easier to understand.</a:t>
            </a:r>
          </a:p>
        </p:txBody>
      </p:sp>
      <p:sp>
        <p:nvSpPr>
          <p:cNvPr id="10" name="TextBox 9"/>
          <p:cNvSpPr txBox="1"/>
          <p:nvPr/>
        </p:nvSpPr>
        <p:spPr>
          <a:xfrm>
            <a:off x="9646920" y="5797296"/>
            <a:ext cx="502920" cy="228600"/>
          </a:xfrm>
          <a:prstGeom prst="rect">
            <a:avLst/>
          </a:prstGeom>
          <a:noFill/>
        </p:spPr>
        <p:txBody>
          <a:bodyPr wrap="square" lIns="45720" rIns="45720" anchor="t">
            <a:spAutoFit/>
          </a:bodyPr>
          <a:lstStyle/>
          <a:p>
            <a:pPr algn="ctr"/>
            <a:r>
              <a:rPr sz="1000" b="0">
                <a:solidFill>
                  <a:srgbClr val="1E1E1E"/>
                </a:solidFill>
                <a:latin typeface="Aptos"/>
              </a:rPr>
              <a:t>3</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7" name="TextBox 6"/>
          <p:cNvSpPr txBox="1"/>
          <p:nvPr/>
        </p:nvSpPr>
        <p:spPr>
          <a:xfrm>
            <a:off x="1051560" y="1828800"/>
            <a:ext cx="9052560" cy="3520440"/>
          </a:xfrm>
          <a:prstGeom prst="rect">
            <a:avLst/>
          </a:prstGeom>
          <a:noFill/>
        </p:spPr>
        <p:txBody>
          <a:bodyPr wrap="square" lIns="73152" tIns="36576" rIns="73152" bIns="36576">
            <a:spAutoFit/>
          </a:bodyPr>
          <a:lstStyle/>
          <a:p>
            <a:pPr>
              <a:spcAft>
                <a:spcPts val="700"/>
              </a:spcAft>
              <a:defRPr sz="1800">
                <a:solidFill>
                  <a:srgbClr val="232323"/>
                </a:solidFill>
                <a:latin typeface="Aptos"/>
              </a:defRPr>
            </a:pPr>
            <a:r>
              <a:t>• Develop a web-based dashboard for uploading structured CSV datasets.</a:t>
            </a:r>
          </a:p>
          <a:p>
            <a:pPr>
              <a:spcAft>
                <a:spcPts val="700"/>
              </a:spcAft>
              <a:defRPr sz="1800">
                <a:solidFill>
                  <a:srgbClr val="232323"/>
                </a:solidFill>
                <a:latin typeface="Aptos"/>
              </a:defRPr>
            </a:pPr>
            <a:r>
              <a:t>• Automatically inspect dataset dimensions, column names, data types, missing values, and duplicates.</a:t>
            </a:r>
          </a:p>
          <a:p>
            <a:pPr>
              <a:spcAft>
                <a:spcPts val="700"/>
              </a:spcAft>
              <a:defRPr sz="1800">
                <a:solidFill>
                  <a:srgbClr val="232323"/>
                </a:solidFill>
                <a:latin typeface="Aptos"/>
              </a:defRPr>
            </a:pPr>
            <a:r>
              <a:t>• Generate descriptive statistics for numerical variables.</a:t>
            </a:r>
          </a:p>
          <a:p>
            <a:pPr>
              <a:spcAft>
                <a:spcPts val="700"/>
              </a:spcAft>
              <a:defRPr sz="1800">
                <a:solidFill>
                  <a:srgbClr val="232323"/>
                </a:solidFill>
                <a:latin typeface="Aptos"/>
              </a:defRPr>
            </a:pPr>
            <a:r>
              <a:t>• Automatically generate distribution plots, box plots, correlation heatmaps, and pairplots.</a:t>
            </a:r>
          </a:p>
          <a:p>
            <a:pPr>
              <a:spcAft>
                <a:spcPts val="700"/>
              </a:spcAft>
              <a:defRPr sz="1800">
                <a:solidFill>
                  <a:srgbClr val="232323"/>
                </a:solidFill>
                <a:latin typeface="Aptos"/>
              </a:defRPr>
            </a:pPr>
            <a:r>
              <a:t>• Provide interactive column selection and visualization controls through Streamlit.</a:t>
            </a:r>
          </a:p>
          <a:p>
            <a:pPr>
              <a:spcAft>
                <a:spcPts val="700"/>
              </a:spcAft>
              <a:defRPr sz="1800">
                <a:solidFill>
                  <a:srgbClr val="232323"/>
                </a:solidFill>
                <a:latin typeface="Aptos"/>
              </a:defRPr>
            </a:pPr>
            <a:r>
              <a:t>• Reduce repetitive EDA coding and provide a reusable preliminary analysis workflow.</a:t>
            </a:r>
          </a:p>
        </p:txBody>
      </p:sp>
      <p:sp>
        <p:nvSpPr>
          <p:cNvPr id="8" name="TextBox 7"/>
          <p:cNvSpPr txBox="1"/>
          <p:nvPr/>
        </p:nvSpPr>
        <p:spPr>
          <a:xfrm>
            <a:off x="9646920" y="5797296"/>
            <a:ext cx="502920" cy="228600"/>
          </a:xfrm>
          <a:prstGeom prst="rect">
            <a:avLst/>
          </a:prstGeom>
          <a:noFill/>
        </p:spPr>
        <p:txBody>
          <a:bodyPr wrap="square" lIns="45720" rIns="45720" anchor="t">
            <a:spAutoFit/>
          </a:bodyPr>
          <a:lstStyle/>
          <a:p>
            <a:pPr algn="ctr"/>
            <a:r>
              <a:rPr sz="1000" b="0">
                <a:solidFill>
                  <a:srgbClr val="1E1E1E"/>
                </a:solidFill>
                <a:latin typeface="Aptos"/>
              </a:rPr>
              <a:t>4</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344012633"/>
              </p:ext>
            </p:extLst>
          </p:nvPr>
        </p:nvGraphicFramePr>
        <p:xfrm>
          <a:off x="274646" y="689466"/>
          <a:ext cx="11642705" cy="4639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r>
                        <a:rPr sz="950" b="1">
                          <a:latin typeface="Aptos"/>
                        </a:rPr>
                        <a:t>Authors / Source</a:t>
                      </a:r>
                    </a:p>
                  </a:txBody>
                  <a:tcPr>
                    <a:solidFill>
                      <a:srgbClr val="FFFF00"/>
                    </a:solidFill>
                  </a:tcPr>
                </a:tc>
                <a:tc>
                  <a:txBody>
                    <a:bodyPr/>
                    <a:lstStyle/>
                    <a:p>
                      <a:r>
                        <a:rPr sz="950" b="1">
                          <a:latin typeface="Aptos"/>
                        </a:rPr>
                        <a:t>Title / Focus</a:t>
                      </a:r>
                    </a:p>
                  </a:txBody>
                  <a:tcPr>
                    <a:solidFill>
                      <a:srgbClr val="FFFF00"/>
                    </a:solidFill>
                  </a:tcPr>
                </a:tc>
                <a:tc>
                  <a:txBody>
                    <a:bodyPr/>
                    <a:lstStyle/>
                    <a:p>
                      <a:r>
                        <a:rPr sz="950" b="1">
                          <a:latin typeface="Aptos"/>
                        </a:rPr>
                        <a:t>Methodology / Tool</a:t>
                      </a:r>
                    </a:p>
                  </a:txBody>
                  <a:tcPr>
                    <a:solidFill>
                      <a:srgbClr val="FFFF00"/>
                    </a:solidFill>
                  </a:tcPr>
                </a:tc>
                <a:tc>
                  <a:txBody>
                    <a:bodyPr/>
                    <a:lstStyle/>
                    <a:p>
                      <a:r>
                        <a:rPr sz="950" b="1">
                          <a:latin typeface="Aptos"/>
                        </a:rPr>
                        <a:t>Key Inference</a:t>
                      </a:r>
                    </a:p>
                  </a:txBody>
                  <a:tcPr>
                    <a:solidFill>
                      <a:srgbClr val="FFFF00"/>
                    </a:solidFill>
                  </a:tcPr>
                </a:tc>
                <a:tc>
                  <a:txBody>
                    <a:bodyPr/>
                    <a:lstStyle/>
                    <a:p>
                      <a:r>
                        <a:rPr sz="950" b="1">
                          <a:latin typeface="Aptos"/>
                        </a:rPr>
                        <a:t>Limitation / Relevance</a:t>
                      </a:r>
                    </a:p>
                  </a:txBody>
                  <a:tcPr>
                    <a:solidFill>
                      <a:srgbClr val="FFFF00"/>
                    </a:solidFill>
                  </a:tcPr>
                </a:tc>
                <a:extLst>
                  <a:ext uri="{0D108BD9-81ED-4DB2-BD59-A6C34878D82A}">
                    <a16:rowId xmlns:a16="http://schemas.microsoft.com/office/drawing/2014/main" val="10000"/>
                  </a:ext>
                </a:extLst>
              </a:tr>
              <a:tr h="1541937">
                <a:tc>
                  <a:txBody>
                    <a:bodyPr/>
                    <a:lstStyle/>
                    <a:p>
                      <a:r>
                        <a:rPr sz="900" b="0">
                          <a:latin typeface="Aptos"/>
                        </a:rPr>
                        <a:t>J. W. Tukey (1977)</a:t>
                      </a:r>
                    </a:p>
                  </a:txBody>
                  <a:tcPr/>
                </a:tc>
                <a:tc>
                  <a:txBody>
                    <a:bodyPr/>
                    <a:lstStyle/>
                    <a:p>
                      <a:r>
                        <a:rPr sz="900" b="0">
                          <a:latin typeface="Aptos"/>
                        </a:rPr>
                        <a:t>Exploratory Data Analysis</a:t>
                      </a:r>
                    </a:p>
                  </a:txBody>
                  <a:tcPr/>
                </a:tc>
                <a:tc>
                  <a:txBody>
                    <a:bodyPr/>
                    <a:lstStyle/>
                    <a:p>
                      <a:r>
                        <a:rPr sz="900" b="0">
                          <a:latin typeface="Aptos"/>
                        </a:rPr>
                        <a:t>Exploratory statistics &amp; visual methods</a:t>
                      </a:r>
                    </a:p>
                  </a:txBody>
                  <a:tcPr/>
                </a:tc>
                <a:tc>
                  <a:txBody>
                    <a:bodyPr/>
                    <a:lstStyle/>
                    <a:p>
                      <a:r>
                        <a:rPr sz="900" b="0">
                          <a:latin typeface="Aptos"/>
                        </a:rPr>
                        <a:t>Established EDA as a systematic approach to discovering patterns and anomalies.</a:t>
                      </a:r>
                    </a:p>
                  </a:txBody>
                  <a:tcPr/>
                </a:tc>
                <a:tc>
                  <a:txBody>
                    <a:bodyPr/>
                    <a:lstStyle/>
                    <a:p>
                      <a:r>
                        <a:rPr sz="900" b="0">
                          <a:latin typeface="Aptos"/>
                        </a:rPr>
                        <a:t>Foundational work; not an interactive web dashboard.</a:t>
                      </a:r>
                    </a:p>
                  </a:txBody>
                  <a:tcPr/>
                </a:tc>
                <a:extLst>
                  <a:ext uri="{0D108BD9-81ED-4DB2-BD59-A6C34878D82A}">
                    <a16:rowId xmlns:a16="http://schemas.microsoft.com/office/drawing/2014/main" val="3714155954"/>
                  </a:ext>
                </a:extLst>
              </a:tr>
              <a:tr h="1354600">
                <a:tc>
                  <a:txBody>
                    <a:bodyPr/>
                    <a:lstStyle/>
                    <a:p>
                      <a:r>
                        <a:rPr sz="900" b="0">
                          <a:latin typeface="Aptos"/>
                        </a:rPr>
                        <a:t>Wilkinson (2005)</a:t>
                      </a:r>
                    </a:p>
                  </a:txBody>
                  <a:tcPr/>
                </a:tc>
                <a:tc>
                  <a:txBody>
                    <a:bodyPr/>
                    <a:lstStyle/>
                    <a:p>
                      <a:r>
                        <a:rPr sz="900" b="0">
                          <a:latin typeface="Aptos"/>
                        </a:rPr>
                        <a:t>The Grammar of Graphics</a:t>
                      </a:r>
                    </a:p>
                  </a:txBody>
                  <a:tcPr/>
                </a:tc>
                <a:tc>
                  <a:txBody>
                    <a:bodyPr/>
                    <a:lstStyle/>
                    <a:p>
                      <a:r>
                        <a:rPr sz="900" b="0">
                          <a:latin typeface="Aptos"/>
                        </a:rPr>
                        <a:t>Layered statistical graphics</a:t>
                      </a:r>
                    </a:p>
                  </a:txBody>
                  <a:tcPr/>
                </a:tc>
                <a:tc>
                  <a:txBody>
                    <a:bodyPr/>
                    <a:lstStyle/>
                    <a:p>
                      <a:r>
                        <a:rPr sz="900" b="0">
                          <a:latin typeface="Aptos"/>
                        </a:rPr>
                        <a:t>Provides a framework for constructing flexible data visualizations.</a:t>
                      </a:r>
                    </a:p>
                  </a:txBody>
                  <a:tcPr/>
                </a:tc>
                <a:tc>
                  <a:txBody>
                    <a:bodyPr/>
                    <a:lstStyle/>
                    <a:p>
                      <a:r>
                        <a:rPr sz="900" b="0">
                          <a:latin typeface="Aptos"/>
                        </a:rPr>
                        <a:t>Focuses on visualization theory rather than an end-to-end CSV EDA application.</a:t>
                      </a:r>
                    </a:p>
                  </a:txBody>
                  <a:tcPr/>
                </a:tc>
                <a:extLst>
                  <a:ext uri="{0D108BD9-81ED-4DB2-BD59-A6C34878D82A}">
                    <a16:rowId xmlns:a16="http://schemas.microsoft.com/office/drawing/2014/main" val="2655426370"/>
                  </a:ext>
                </a:extLst>
              </a:tr>
              <a:tr h="1354600">
                <a:tc>
                  <a:txBody>
                    <a:bodyPr/>
                    <a:lstStyle/>
                    <a:p>
                      <a:r>
                        <a:rPr sz="900" b="0">
                          <a:latin typeface="Aptos"/>
                        </a:rPr>
                        <a:t>McKinney (2010/2022)</a:t>
                      </a:r>
                    </a:p>
                  </a:txBody>
                  <a:tcPr/>
                </a:tc>
                <a:tc>
                  <a:txBody>
                    <a:bodyPr/>
                    <a:lstStyle/>
                    <a:p>
                      <a:r>
                        <a:rPr sz="900" b="0">
                          <a:latin typeface="Aptos"/>
                        </a:rPr>
                        <a:t>Python for Data Analysis</a:t>
                      </a:r>
                    </a:p>
                  </a:txBody>
                  <a:tcPr/>
                </a:tc>
                <a:tc>
                  <a:txBody>
                    <a:bodyPr/>
                    <a:lstStyle/>
                    <a:p>
                      <a:r>
                        <a:rPr sz="900" b="0">
                          <a:latin typeface="Aptos"/>
                        </a:rPr>
                        <a:t>Pandas, NumPy, data wrangling</a:t>
                      </a:r>
                    </a:p>
                  </a:txBody>
                  <a:tcPr/>
                </a:tc>
                <a:tc>
                  <a:txBody>
                    <a:bodyPr/>
                    <a:lstStyle/>
                    <a:p>
                      <a:r>
                        <a:rPr sz="900" b="0">
                          <a:latin typeface="Aptos"/>
                        </a:rPr>
                        <a:t>Demonstrates practical data cleaning, transformation, and analysis workflows.</a:t>
                      </a:r>
                    </a:p>
                  </a:txBody>
                  <a:tcPr/>
                </a:tc>
                <a:tc>
                  <a:txBody>
                    <a:bodyPr/>
                    <a:lstStyle/>
                    <a:p>
                      <a:r>
                        <a:rPr sz="900" b="0">
                          <a:latin typeface="Aptos"/>
                        </a:rPr>
                        <a:t>Primarily a programming workflow; users still write analysis code.</a:t>
                      </a: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822960" y="1234440"/>
            <a:ext cx="9601200" cy="502920"/>
          </a:xfrm>
          <a:prstGeom prst="rect">
            <a:avLst/>
          </a:prstGeom>
          <a:noFill/>
        </p:spPr>
        <p:txBody>
          <a:bodyPr wrap="square" lIns="45720" rIns="45720" anchor="t">
            <a:spAutoFit/>
          </a:bodyPr>
          <a:lstStyle/>
          <a:p>
            <a:pPr algn="ctr"/>
            <a:r>
              <a:rPr sz="2200" b="1">
                <a:solidFill>
                  <a:srgbClr val="1E1E1E"/>
                </a:solidFill>
                <a:latin typeface="Aptos"/>
              </a:rPr>
              <a:t>Problem Gap Identification</a:t>
            </a:r>
          </a:p>
        </p:txBody>
      </p:sp>
      <p:sp>
        <p:nvSpPr>
          <p:cNvPr id="7" name="TextBox 6"/>
          <p:cNvSpPr txBox="1"/>
          <p:nvPr/>
        </p:nvSpPr>
        <p:spPr>
          <a:xfrm>
            <a:off x="960120" y="1828800"/>
            <a:ext cx="9144000" cy="3474720"/>
          </a:xfrm>
          <a:prstGeom prst="rect">
            <a:avLst/>
          </a:prstGeom>
          <a:noFill/>
        </p:spPr>
        <p:txBody>
          <a:bodyPr wrap="square" lIns="73152" tIns="36576" rIns="73152" bIns="36576">
            <a:spAutoFit/>
          </a:bodyPr>
          <a:lstStyle/>
          <a:p>
            <a:pPr>
              <a:spcAft>
                <a:spcPts val="800"/>
              </a:spcAft>
              <a:defRPr sz="1800">
                <a:solidFill>
                  <a:srgbClr val="232323"/>
                </a:solidFill>
                <a:latin typeface="Aptos"/>
              </a:defRPr>
            </a:pPr>
            <a:r>
              <a:t>• Many EDA workflows are code-driven and require repeated implementation for different datasets.</a:t>
            </a:r>
          </a:p>
          <a:p>
            <a:pPr>
              <a:spcAft>
                <a:spcPts val="800"/>
              </a:spcAft>
              <a:defRPr sz="1800">
                <a:solidFill>
                  <a:srgbClr val="232323"/>
                </a:solidFill>
                <a:latin typeface="Aptos"/>
              </a:defRPr>
            </a:pPr>
            <a:r>
              <a:t>• Raw CSV files do not immediately provide an integrated view of data quality, statistics, and visual patterns.</a:t>
            </a:r>
          </a:p>
          <a:p>
            <a:pPr>
              <a:spcAft>
                <a:spcPts val="800"/>
              </a:spcAft>
              <a:defRPr sz="1800">
                <a:solidFill>
                  <a:srgbClr val="232323"/>
                </a:solidFill>
                <a:latin typeface="Aptos"/>
              </a:defRPr>
            </a:pPr>
            <a:r>
              <a:t>• Different EDA outputs are often created separately instead of being presented through one reusable interface.</a:t>
            </a:r>
          </a:p>
          <a:p>
            <a:pPr>
              <a:spcAft>
                <a:spcPts val="800"/>
              </a:spcAft>
              <a:defRPr sz="1800">
                <a:solidFill>
                  <a:srgbClr val="232323"/>
                </a:solidFill>
                <a:latin typeface="Aptos"/>
              </a:defRPr>
            </a:pPr>
            <a:r>
              <a:t>• Beginners may find it difficult to choose, configure, and interpret multiple EDA plots manually.</a:t>
            </a:r>
          </a:p>
          <a:p>
            <a:pPr>
              <a:spcAft>
                <a:spcPts val="800"/>
              </a:spcAft>
              <a:defRPr sz="1800">
                <a:solidFill>
                  <a:srgbClr val="232323"/>
                </a:solidFill>
                <a:latin typeface="Aptos"/>
              </a:defRPr>
            </a:pPr>
            <a:r>
              <a:t>• The proposed dashboard combines data inspection, descriptive statistics, and common visual EDA in one interactive workflow.</a:t>
            </a:r>
          </a:p>
        </p:txBody>
      </p:sp>
      <p:sp>
        <p:nvSpPr>
          <p:cNvPr id="8" name="TextBox 7"/>
          <p:cNvSpPr txBox="1"/>
          <p:nvPr/>
        </p:nvSpPr>
        <p:spPr>
          <a:xfrm>
            <a:off x="9646920" y="5797296"/>
            <a:ext cx="502920" cy="228600"/>
          </a:xfrm>
          <a:prstGeom prst="rect">
            <a:avLst/>
          </a:prstGeom>
          <a:noFill/>
        </p:spPr>
        <p:txBody>
          <a:bodyPr wrap="square" lIns="45720" rIns="45720" anchor="t">
            <a:spAutoFit/>
          </a:bodyPr>
          <a:lstStyle/>
          <a:p>
            <a:pPr algn="ctr"/>
            <a:r>
              <a:rPr sz="1000" b="0">
                <a:solidFill>
                  <a:srgbClr val="1E1E1E"/>
                </a:solidFill>
                <a:latin typeface="Aptos"/>
              </a:rPr>
              <a:t>6</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7" name="TextBox 6"/>
          <p:cNvSpPr txBox="1"/>
          <p:nvPr/>
        </p:nvSpPr>
        <p:spPr>
          <a:xfrm>
            <a:off x="914400" y="1828800"/>
            <a:ext cx="9326880" cy="3566160"/>
          </a:xfrm>
          <a:prstGeom prst="rect">
            <a:avLst/>
          </a:prstGeom>
          <a:noFill/>
        </p:spPr>
        <p:txBody>
          <a:bodyPr wrap="square" lIns="73152" tIns="36576" rIns="73152" bIns="36576">
            <a:spAutoFit/>
          </a:bodyPr>
          <a:lstStyle/>
          <a:p>
            <a:pPr>
              <a:spcAft>
                <a:spcPts val="700"/>
              </a:spcAft>
              <a:defRPr sz="1700">
                <a:solidFill>
                  <a:srgbClr val="232323"/>
                </a:solidFill>
                <a:latin typeface="Aptos"/>
              </a:defRPr>
            </a:pPr>
            <a:r>
              <a:t>• Single-upload workflow: one CSV input triggers a structured EDA sequence.</a:t>
            </a:r>
          </a:p>
          <a:p>
            <a:pPr>
              <a:spcAft>
                <a:spcPts val="700"/>
              </a:spcAft>
              <a:defRPr sz="1700">
                <a:solidFill>
                  <a:srgbClr val="232323"/>
                </a:solidFill>
                <a:latin typeface="Aptos"/>
              </a:defRPr>
            </a:pPr>
            <a:r>
              <a:t>• Automatic selection of numerical variables for statistical and graphical analysis.</a:t>
            </a:r>
          </a:p>
          <a:p>
            <a:pPr>
              <a:spcAft>
                <a:spcPts val="700"/>
              </a:spcAft>
              <a:defRPr sz="1700">
                <a:solidFill>
                  <a:srgbClr val="232323"/>
                </a:solidFill>
                <a:latin typeface="Aptos"/>
              </a:defRPr>
            </a:pPr>
            <a:r>
              <a:t>• Integrated view of dataset summary, missing values, descriptive statistics, and visualizations.</a:t>
            </a:r>
          </a:p>
          <a:p>
            <a:pPr>
              <a:spcAft>
                <a:spcPts val="700"/>
              </a:spcAft>
              <a:defRPr sz="1700">
                <a:solidFill>
                  <a:srgbClr val="232323"/>
                </a:solidFill>
                <a:latin typeface="Aptos"/>
              </a:defRPr>
            </a:pPr>
            <a:r>
              <a:t>• Interactive controls allow users to select columns and explore relevant plots without rewriting code.</a:t>
            </a:r>
          </a:p>
          <a:p>
            <a:pPr>
              <a:spcAft>
                <a:spcPts val="700"/>
              </a:spcAft>
              <a:defRPr sz="1700">
                <a:solidFill>
                  <a:srgbClr val="232323"/>
                </a:solidFill>
                <a:latin typeface="Aptos"/>
              </a:defRPr>
            </a:pPr>
            <a:r>
              <a:t>• Reusable architecture designed for multiple structured CSV datasets.</a:t>
            </a:r>
          </a:p>
          <a:p>
            <a:pPr>
              <a:spcAft>
                <a:spcPts val="700"/>
              </a:spcAft>
              <a:defRPr sz="1700">
                <a:solidFill>
                  <a:srgbClr val="232323"/>
                </a:solidFill>
                <a:latin typeface="Aptos"/>
              </a:defRPr>
            </a:pPr>
            <a:r>
              <a:t>• Can be extended later with automated reports, additional plot types, data-quality checks, and optional ML modules.</a:t>
            </a:r>
          </a:p>
        </p:txBody>
      </p:sp>
      <p:sp>
        <p:nvSpPr>
          <p:cNvPr id="8" name="TextBox 7"/>
          <p:cNvSpPr txBox="1"/>
          <p:nvPr/>
        </p:nvSpPr>
        <p:spPr>
          <a:xfrm>
            <a:off x="9646920" y="5797296"/>
            <a:ext cx="502920" cy="228600"/>
          </a:xfrm>
          <a:prstGeom prst="rect">
            <a:avLst/>
          </a:prstGeom>
          <a:noFill/>
        </p:spPr>
        <p:txBody>
          <a:bodyPr wrap="square" lIns="45720" rIns="45720" anchor="t">
            <a:spAutoFit/>
          </a:bodyPr>
          <a:lstStyle/>
          <a:p>
            <a:pPr algn="ctr"/>
            <a:r>
              <a:rPr sz="1000" b="0">
                <a:solidFill>
                  <a:srgbClr val="1E1E1E"/>
                </a:solidFill>
                <a:latin typeface="Aptos"/>
              </a:rPr>
              <a:t>7</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381398" y="1743891"/>
            <a:ext cx="10116039" cy="369332"/>
          </a:xfrm>
          <a:prstGeom prst="rect">
            <a:avLst/>
          </a:prstGeom>
          <a:noFill/>
        </p:spPr>
        <p:txBody>
          <a:bodyPr wrap="none" rtlCol="0">
            <a:spAutoFit/>
          </a:bodyPr>
          <a:lstStyle/>
          <a:p>
            <a:endParaRP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777240" y="1234440"/>
            <a:ext cx="9692640" cy="457200"/>
          </a:xfrm>
          <a:prstGeom prst="rect">
            <a:avLst/>
          </a:prstGeom>
          <a:noFill/>
        </p:spPr>
        <p:txBody>
          <a:bodyPr wrap="square" lIns="45720" rIns="45720" anchor="t">
            <a:spAutoFit/>
          </a:bodyPr>
          <a:lstStyle/>
          <a:p>
            <a:pPr algn="ctr"/>
            <a:r>
              <a:rPr sz="2100" b="1">
                <a:solidFill>
                  <a:srgbClr val="1E1E1E"/>
                </a:solidFill>
                <a:latin typeface="Aptos"/>
              </a:rPr>
              <a:t>Feasibility and Project Plan</a:t>
            </a:r>
          </a:p>
        </p:txBody>
      </p:sp>
      <p:sp>
        <p:nvSpPr>
          <p:cNvPr id="7" name="TextBox 6"/>
          <p:cNvSpPr txBox="1"/>
          <p:nvPr/>
        </p:nvSpPr>
        <p:spPr>
          <a:xfrm>
            <a:off x="868680" y="1737360"/>
            <a:ext cx="9235440" cy="914400"/>
          </a:xfrm>
          <a:prstGeom prst="rect">
            <a:avLst/>
          </a:prstGeom>
          <a:noFill/>
        </p:spPr>
        <p:txBody>
          <a:bodyPr wrap="square" lIns="45720" rIns="45720" anchor="t">
            <a:spAutoFit/>
          </a:bodyPr>
          <a:lstStyle/>
          <a:p>
            <a:pPr algn="l"/>
            <a:r>
              <a:rPr sz="1400" b="0">
                <a:solidFill>
                  <a:srgbClr val="1E1E1E"/>
                </a:solidFill>
                <a:latin typeface="Aptos"/>
              </a:rPr>
              <a:t>Technical: Python + Pandas/NumPy + Seaborn/Matplotlib/Plotly + Streamlit.
Operational: simple CSV upload and interactive controls; suitable for student and analyst use.
Project scope: structured CSV datasets with common numerical/categorical fields.</a:t>
            </a:r>
          </a:p>
        </p:txBody>
      </p:sp>
      <p:sp>
        <p:nvSpPr>
          <p:cNvPr id="8" name="TextBox 7"/>
          <p:cNvSpPr txBox="1"/>
          <p:nvPr/>
        </p:nvSpPr>
        <p:spPr>
          <a:xfrm>
            <a:off x="914400" y="2377439"/>
            <a:ext cx="2743200" cy="365760"/>
          </a:xfrm>
          <a:prstGeom prst="rect">
            <a:avLst/>
          </a:prstGeom>
          <a:noFill/>
        </p:spPr>
        <p:txBody>
          <a:bodyPr wrap="square" lIns="45720" rIns="45720" anchor="t">
            <a:spAutoFit/>
          </a:bodyPr>
          <a:lstStyle/>
          <a:p>
            <a:pPr algn="ctr"/>
            <a:r>
              <a:rPr sz="1200" b="1">
                <a:solidFill>
                  <a:srgbClr val="1E1E1E"/>
                </a:solidFill>
                <a:latin typeface="Aptos"/>
              </a:rPr>
              <a:t>Project Phase</a:t>
            </a:r>
          </a:p>
        </p:txBody>
      </p:sp>
      <p:sp>
        <p:nvSpPr>
          <p:cNvPr id="9" name="TextBox 8"/>
          <p:cNvSpPr txBox="1"/>
          <p:nvPr/>
        </p:nvSpPr>
        <p:spPr>
          <a:xfrm>
            <a:off x="3657600" y="2377439"/>
            <a:ext cx="1089660" cy="365760"/>
          </a:xfrm>
          <a:prstGeom prst="rect">
            <a:avLst/>
          </a:prstGeom>
          <a:noFill/>
        </p:spPr>
        <p:txBody>
          <a:bodyPr wrap="square" lIns="45720" rIns="45720" anchor="t">
            <a:spAutoFit/>
          </a:bodyPr>
          <a:lstStyle/>
          <a:p>
            <a:pPr algn="ctr"/>
            <a:r>
              <a:rPr sz="1200" b="1">
                <a:solidFill>
                  <a:srgbClr val="1E1E1E"/>
                </a:solidFill>
                <a:latin typeface="Aptos"/>
              </a:rPr>
              <a:t>W1</a:t>
            </a:r>
          </a:p>
        </p:txBody>
      </p:sp>
      <p:sp>
        <p:nvSpPr>
          <p:cNvPr id="10" name="TextBox 9"/>
          <p:cNvSpPr txBox="1"/>
          <p:nvPr/>
        </p:nvSpPr>
        <p:spPr>
          <a:xfrm>
            <a:off x="4747260" y="2377439"/>
            <a:ext cx="1089660" cy="365760"/>
          </a:xfrm>
          <a:prstGeom prst="rect">
            <a:avLst/>
          </a:prstGeom>
          <a:noFill/>
        </p:spPr>
        <p:txBody>
          <a:bodyPr wrap="square" lIns="45720" rIns="45720" anchor="t">
            <a:spAutoFit/>
          </a:bodyPr>
          <a:lstStyle/>
          <a:p>
            <a:pPr algn="ctr"/>
            <a:r>
              <a:rPr sz="1200" b="1">
                <a:solidFill>
                  <a:srgbClr val="1E1E1E"/>
                </a:solidFill>
                <a:latin typeface="Aptos"/>
              </a:rPr>
              <a:t>W2</a:t>
            </a:r>
          </a:p>
        </p:txBody>
      </p:sp>
      <p:sp>
        <p:nvSpPr>
          <p:cNvPr id="11" name="TextBox 10"/>
          <p:cNvSpPr txBox="1"/>
          <p:nvPr/>
        </p:nvSpPr>
        <p:spPr>
          <a:xfrm>
            <a:off x="5836920" y="2377439"/>
            <a:ext cx="1089660" cy="365760"/>
          </a:xfrm>
          <a:prstGeom prst="rect">
            <a:avLst/>
          </a:prstGeom>
          <a:noFill/>
        </p:spPr>
        <p:txBody>
          <a:bodyPr wrap="square" lIns="45720" rIns="45720" anchor="t">
            <a:spAutoFit/>
          </a:bodyPr>
          <a:lstStyle/>
          <a:p>
            <a:pPr algn="ctr"/>
            <a:r>
              <a:rPr sz="1200" b="1">
                <a:solidFill>
                  <a:srgbClr val="1E1E1E"/>
                </a:solidFill>
                <a:latin typeface="Aptos"/>
              </a:rPr>
              <a:t>W3</a:t>
            </a:r>
          </a:p>
        </p:txBody>
      </p:sp>
      <p:sp>
        <p:nvSpPr>
          <p:cNvPr id="12" name="TextBox 11"/>
          <p:cNvSpPr txBox="1"/>
          <p:nvPr/>
        </p:nvSpPr>
        <p:spPr>
          <a:xfrm>
            <a:off x="6926580" y="2377439"/>
            <a:ext cx="1089660" cy="365760"/>
          </a:xfrm>
          <a:prstGeom prst="rect">
            <a:avLst/>
          </a:prstGeom>
          <a:noFill/>
        </p:spPr>
        <p:txBody>
          <a:bodyPr wrap="square" lIns="45720" rIns="45720" anchor="t">
            <a:spAutoFit/>
          </a:bodyPr>
          <a:lstStyle/>
          <a:p>
            <a:pPr algn="ctr"/>
            <a:r>
              <a:rPr sz="1200" b="1">
                <a:solidFill>
                  <a:srgbClr val="1E1E1E"/>
                </a:solidFill>
                <a:latin typeface="Aptos"/>
              </a:rPr>
              <a:t>W4</a:t>
            </a:r>
          </a:p>
        </p:txBody>
      </p:sp>
      <p:sp>
        <p:nvSpPr>
          <p:cNvPr id="13" name="TextBox 12"/>
          <p:cNvSpPr txBox="1"/>
          <p:nvPr/>
        </p:nvSpPr>
        <p:spPr>
          <a:xfrm>
            <a:off x="8016239" y="2377439"/>
            <a:ext cx="1089660" cy="365760"/>
          </a:xfrm>
          <a:prstGeom prst="rect">
            <a:avLst/>
          </a:prstGeom>
          <a:noFill/>
        </p:spPr>
        <p:txBody>
          <a:bodyPr wrap="square" lIns="45720" rIns="45720" anchor="t">
            <a:spAutoFit/>
          </a:bodyPr>
          <a:lstStyle/>
          <a:p>
            <a:pPr algn="ctr"/>
            <a:r>
              <a:rPr sz="1200" b="1">
                <a:solidFill>
                  <a:srgbClr val="1E1E1E"/>
                </a:solidFill>
                <a:latin typeface="Aptos"/>
              </a:rPr>
              <a:t>W5</a:t>
            </a:r>
          </a:p>
        </p:txBody>
      </p:sp>
      <p:sp>
        <p:nvSpPr>
          <p:cNvPr id="14" name="TextBox 13"/>
          <p:cNvSpPr txBox="1"/>
          <p:nvPr/>
        </p:nvSpPr>
        <p:spPr>
          <a:xfrm>
            <a:off x="9105899" y="2377439"/>
            <a:ext cx="1089660" cy="365760"/>
          </a:xfrm>
          <a:prstGeom prst="rect">
            <a:avLst/>
          </a:prstGeom>
          <a:noFill/>
        </p:spPr>
        <p:txBody>
          <a:bodyPr wrap="square" lIns="45720" rIns="45720" anchor="t">
            <a:spAutoFit/>
          </a:bodyPr>
          <a:lstStyle/>
          <a:p>
            <a:pPr algn="ctr"/>
            <a:r>
              <a:rPr sz="1200" b="1">
                <a:solidFill>
                  <a:srgbClr val="1E1E1E"/>
                </a:solidFill>
                <a:latin typeface="Aptos"/>
              </a:rPr>
              <a:t>W6</a:t>
            </a:r>
          </a:p>
        </p:txBody>
      </p:sp>
      <p:sp>
        <p:nvSpPr>
          <p:cNvPr id="15" name="TextBox 14"/>
          <p:cNvSpPr txBox="1"/>
          <p:nvPr/>
        </p:nvSpPr>
        <p:spPr>
          <a:xfrm>
            <a:off x="914400" y="2788920"/>
            <a:ext cx="2743200" cy="438912"/>
          </a:xfrm>
          <a:prstGeom prst="rect">
            <a:avLst/>
          </a:prstGeom>
          <a:noFill/>
        </p:spPr>
        <p:txBody>
          <a:bodyPr wrap="square" lIns="45720" rIns="45720" anchor="t">
            <a:spAutoFit/>
          </a:bodyPr>
          <a:lstStyle/>
          <a:p>
            <a:pPr algn="l"/>
            <a:r>
              <a:rPr sz="1100" b="0">
                <a:solidFill>
                  <a:srgbClr val="1E1E1E"/>
                </a:solidFill>
                <a:latin typeface="Aptos"/>
              </a:rPr>
              <a:t>Requirement analysis &amp; design</a:t>
            </a:r>
          </a:p>
        </p:txBody>
      </p:sp>
      <p:sp>
        <p:nvSpPr>
          <p:cNvPr id="16" name="Rectangle 15"/>
          <p:cNvSpPr/>
          <p:nvPr/>
        </p:nvSpPr>
        <p:spPr>
          <a:xfrm>
            <a:off x="3685032" y="2816351"/>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774692" y="2816351"/>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864352" y="2816351"/>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954012" y="2816351"/>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43671" y="2816351"/>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133331" y="2816351"/>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3227832"/>
            <a:ext cx="2743200" cy="438912"/>
          </a:xfrm>
          <a:prstGeom prst="rect">
            <a:avLst/>
          </a:prstGeom>
          <a:noFill/>
        </p:spPr>
        <p:txBody>
          <a:bodyPr wrap="square" lIns="45720" rIns="45720" anchor="t">
            <a:spAutoFit/>
          </a:bodyPr>
          <a:lstStyle/>
          <a:p>
            <a:pPr algn="l"/>
            <a:r>
              <a:rPr sz="1100" b="0">
                <a:solidFill>
                  <a:srgbClr val="1E1E1E"/>
                </a:solidFill>
                <a:latin typeface="Aptos"/>
              </a:rPr>
              <a:t>CSV ingestion &amp; preprocessing</a:t>
            </a:r>
          </a:p>
        </p:txBody>
      </p:sp>
      <p:sp>
        <p:nvSpPr>
          <p:cNvPr id="23" name="Rectangle 22"/>
          <p:cNvSpPr/>
          <p:nvPr/>
        </p:nvSpPr>
        <p:spPr>
          <a:xfrm>
            <a:off x="3685032" y="3255263"/>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774692" y="3255263"/>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864352" y="3255263"/>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954012" y="3255263"/>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043671" y="3255263"/>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133331" y="3255263"/>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3666744"/>
            <a:ext cx="2743200" cy="438912"/>
          </a:xfrm>
          <a:prstGeom prst="rect">
            <a:avLst/>
          </a:prstGeom>
          <a:noFill/>
        </p:spPr>
        <p:txBody>
          <a:bodyPr wrap="square" lIns="45720" rIns="45720" anchor="t">
            <a:spAutoFit/>
          </a:bodyPr>
          <a:lstStyle/>
          <a:p>
            <a:pPr algn="l"/>
            <a:r>
              <a:rPr sz="1100" b="0">
                <a:solidFill>
                  <a:srgbClr val="1E1E1E"/>
                </a:solidFill>
                <a:latin typeface="Aptos"/>
              </a:rPr>
              <a:t>EDA statistics &amp; visualizations</a:t>
            </a:r>
          </a:p>
        </p:txBody>
      </p:sp>
      <p:sp>
        <p:nvSpPr>
          <p:cNvPr id="30" name="Rectangle 29"/>
          <p:cNvSpPr/>
          <p:nvPr/>
        </p:nvSpPr>
        <p:spPr>
          <a:xfrm>
            <a:off x="3685032" y="3694176"/>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774692" y="3694176"/>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864352" y="3694176"/>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954012" y="3694176"/>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043671" y="3694176"/>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133331" y="3694176"/>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14400" y="4105656"/>
            <a:ext cx="2743200" cy="438912"/>
          </a:xfrm>
          <a:prstGeom prst="rect">
            <a:avLst/>
          </a:prstGeom>
          <a:noFill/>
        </p:spPr>
        <p:txBody>
          <a:bodyPr wrap="square" lIns="45720" rIns="45720" anchor="t">
            <a:spAutoFit/>
          </a:bodyPr>
          <a:lstStyle/>
          <a:p>
            <a:pPr algn="l"/>
            <a:r>
              <a:rPr sz="1100" b="0">
                <a:solidFill>
                  <a:srgbClr val="1E1E1E"/>
                </a:solidFill>
                <a:latin typeface="Aptos"/>
              </a:rPr>
              <a:t>Streamlit dashboard integration</a:t>
            </a:r>
          </a:p>
        </p:txBody>
      </p:sp>
      <p:sp>
        <p:nvSpPr>
          <p:cNvPr id="37" name="Rectangle 36"/>
          <p:cNvSpPr/>
          <p:nvPr/>
        </p:nvSpPr>
        <p:spPr>
          <a:xfrm>
            <a:off x="3685032" y="4133088"/>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774692" y="4133088"/>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864352" y="4133088"/>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954012" y="4133088"/>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043671" y="4133088"/>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133331" y="4133088"/>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4400" y="4544568"/>
            <a:ext cx="2743200" cy="438912"/>
          </a:xfrm>
          <a:prstGeom prst="rect">
            <a:avLst/>
          </a:prstGeom>
          <a:noFill/>
        </p:spPr>
        <p:txBody>
          <a:bodyPr wrap="square" lIns="45720" rIns="45720" anchor="t">
            <a:spAutoFit/>
          </a:bodyPr>
          <a:lstStyle/>
          <a:p>
            <a:pPr algn="l"/>
            <a:r>
              <a:rPr sz="1100" b="0">
                <a:solidFill>
                  <a:srgbClr val="1E1E1E"/>
                </a:solidFill>
                <a:latin typeface="Aptos"/>
              </a:rPr>
              <a:t>Testing, refinement &amp; documentation</a:t>
            </a:r>
          </a:p>
        </p:txBody>
      </p:sp>
      <p:sp>
        <p:nvSpPr>
          <p:cNvPr id="44" name="Rectangle 43"/>
          <p:cNvSpPr/>
          <p:nvPr/>
        </p:nvSpPr>
        <p:spPr>
          <a:xfrm>
            <a:off x="3685032" y="4572000"/>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774692" y="4572000"/>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864352" y="4572000"/>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954012" y="4572000"/>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043671" y="4572000"/>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133331" y="4572000"/>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14400" y="4983479"/>
            <a:ext cx="2743200" cy="438912"/>
          </a:xfrm>
          <a:prstGeom prst="rect">
            <a:avLst/>
          </a:prstGeom>
          <a:noFill/>
        </p:spPr>
        <p:txBody>
          <a:bodyPr wrap="square" lIns="45720" rIns="45720" anchor="t">
            <a:spAutoFit/>
          </a:bodyPr>
          <a:lstStyle/>
          <a:p>
            <a:pPr algn="l"/>
            <a:r>
              <a:rPr sz="1100" b="0">
                <a:solidFill>
                  <a:srgbClr val="1E1E1E"/>
                </a:solidFill>
                <a:latin typeface="Aptos"/>
              </a:rPr>
              <a:t>Final review &amp; presentation</a:t>
            </a:r>
          </a:p>
        </p:txBody>
      </p:sp>
      <p:sp>
        <p:nvSpPr>
          <p:cNvPr id="51" name="Rectangle 50"/>
          <p:cNvSpPr/>
          <p:nvPr/>
        </p:nvSpPr>
        <p:spPr>
          <a:xfrm>
            <a:off x="3685032" y="5010912"/>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4774692" y="5010912"/>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864352" y="5010912"/>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954012" y="5010912"/>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8043671" y="5010912"/>
            <a:ext cx="1034795" cy="384048"/>
          </a:xfrm>
          <a:prstGeom prst="rect">
            <a:avLst/>
          </a:prstGeom>
          <a:solidFill>
            <a:srgbClr val="F8F8F8"/>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9133331" y="5010912"/>
            <a:ext cx="1034795" cy="384048"/>
          </a:xfrm>
          <a:prstGeom prst="rect">
            <a:avLst/>
          </a:prstGeom>
          <a:solidFill>
            <a:srgbClr val="DCDCDC"/>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14400" y="5532120"/>
            <a:ext cx="9235440" cy="320040"/>
          </a:xfrm>
          <a:prstGeom prst="rect">
            <a:avLst/>
          </a:prstGeom>
          <a:noFill/>
        </p:spPr>
        <p:txBody>
          <a:bodyPr wrap="square" lIns="45720" rIns="45720" anchor="t">
            <a:spAutoFit/>
          </a:bodyPr>
          <a:lstStyle/>
          <a:p>
            <a:pPr algn="ctr"/>
            <a:r>
              <a:rPr sz="1050" b="0">
                <a:solidFill>
                  <a:srgbClr val="1E1E1E"/>
                </a:solidFill>
                <a:latin typeface="Aptos"/>
              </a:rPr>
              <a:t>Team: B. Harneesh (Data Ingestion/Preprocessing/EDA)  |  Dhanush (Visualization/Streamlit Dashboard)</a:t>
            </a:r>
          </a:p>
        </p:txBody>
      </p:sp>
      <p:sp>
        <p:nvSpPr>
          <p:cNvPr id="58" name="TextBox 57"/>
          <p:cNvSpPr txBox="1"/>
          <p:nvPr/>
        </p:nvSpPr>
        <p:spPr>
          <a:xfrm>
            <a:off x="9646920" y="5797296"/>
            <a:ext cx="502920" cy="228600"/>
          </a:xfrm>
          <a:prstGeom prst="rect">
            <a:avLst/>
          </a:prstGeom>
          <a:noFill/>
        </p:spPr>
        <p:txBody>
          <a:bodyPr wrap="square" lIns="45720" rIns="45720" anchor="t">
            <a:spAutoFit/>
          </a:bodyPr>
          <a:lstStyle/>
          <a:p>
            <a:pPr algn="ctr"/>
            <a:r>
              <a:rPr sz="1000" b="0">
                <a:solidFill>
                  <a:srgbClr val="1E1E1E"/>
                </a:solidFill>
                <a:latin typeface="Aptos"/>
              </a:rPr>
              <a:t>8</a:t>
            </a:r>
          </a:p>
        </p:txBody>
      </p:sp>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A953B-268C-1E82-2BCF-4F9BF098A22D}"/>
              </a:ext>
            </a:extLst>
          </p:cNvPr>
          <p:cNvSpPr>
            <a:spLocks noGrp="1"/>
          </p:cNvSpPr>
          <p:nvPr>
            <p:ph type="title"/>
          </p:nvPr>
        </p:nvSpPr>
        <p:spPr>
          <a:xfrm>
            <a:off x="346586" y="2294040"/>
            <a:ext cx="10773697" cy="2269920"/>
          </a:xfrm>
        </p:spPr>
        <p:txBody>
          <a:bodyPr>
            <a:normAutofit/>
          </a:bodyPr>
          <a:lstStyle/>
          <a:p>
            <a:r>
              <a:rPr lang="en-US" sz="7200" dirty="0"/>
              <a:t>				THANK YOU</a:t>
            </a:r>
            <a:endParaRPr lang="en-IN" sz="7200" dirty="0"/>
          </a:p>
        </p:txBody>
      </p:sp>
    </p:spTree>
    <p:extLst>
      <p:ext uri="{BB962C8B-B14F-4D97-AF65-F5344CB8AC3E}">
        <p14:creationId xmlns:p14="http://schemas.microsoft.com/office/powerpoint/2010/main" val="140267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721</Words>
  <Application>Microsoft Office PowerPoint</Application>
  <PresentationFormat>Widescreen</PresentationFormat>
  <Paragraphs>117</Paragraphs>
  <Slides>9</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user</cp:lastModifiedBy>
  <cp:revision>33</cp:revision>
  <dcterms:created xsi:type="dcterms:W3CDTF">2026-08-08T06:33:56Z</dcterms:created>
  <dcterms:modified xsi:type="dcterms:W3CDTF">2026-09-24T05:28:06Z</dcterms:modified>
</cp:coreProperties>
</file>